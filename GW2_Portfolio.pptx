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GW2 Game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317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9A7"/>
                </a:solidFill>
                <a:latin typeface="Calibri"/>
              </a:rPr>
              <a:t>C++ 멀티플레이 게임 서버 포트폴리오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017520"/>
            <a:ext cx="6400800" cy="36576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1417320" cy="347472"/>
          </a:xfrm>
          <a:prstGeom prst="rect">
            <a:avLst/>
          </a:prstGeom>
          <a:solidFill>
            <a:srgbClr val="2A377A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32644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AA0FF"/>
                </a:solidFill>
                <a:latin typeface="Calibri"/>
              </a:rPr>
              <a:t>C++ IOCP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246120"/>
            <a:ext cx="1417320" cy="347472"/>
          </a:xfrm>
          <a:prstGeom prst="rect">
            <a:avLst/>
          </a:prstGeom>
          <a:solidFill>
            <a:srgbClr val="2A377A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32644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AA0FF"/>
                </a:solidFill>
                <a:latin typeface="Calibri"/>
              </a:rPr>
              <a:t>Protobuf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3246120"/>
            <a:ext cx="1417320" cy="347472"/>
          </a:xfrm>
          <a:prstGeom prst="rect">
            <a:avLst/>
          </a:prstGeom>
          <a:solidFill>
            <a:srgbClr val="2A377A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32644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AA0FF"/>
                </a:solidFill>
                <a:latin typeface="Calibri"/>
              </a:rPr>
              <a:t>A* 경로탐색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3246120"/>
            <a:ext cx="1417320" cy="347472"/>
          </a:xfrm>
          <a:prstGeom prst="rect">
            <a:avLst/>
          </a:prstGeom>
          <a:solidFill>
            <a:srgbClr val="2A377A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32644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AA0FF"/>
                </a:solidFill>
                <a:latin typeface="Calibri"/>
              </a:rPr>
              <a:t>Unity 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246120"/>
            <a:ext cx="1417320" cy="347472"/>
          </a:xfrm>
          <a:prstGeom prst="rect">
            <a:avLst/>
          </a:prstGeom>
          <a:solidFill>
            <a:srgbClr val="2A377A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32644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AA0FF"/>
                </a:solidFill>
                <a:latin typeface="Calibri"/>
              </a:rPr>
              <a:t>Server-Auth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5C4"/>
                </a:solidFill>
                <a:latin typeface="Calibri"/>
              </a:rPr>
              <a:t>RTS / MOBA  |  서버 권위 구조  |  JobQueue 스레드 안전 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029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64008" cy="2103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프로젝트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• RTS/MOBA 장르의 C++ 멀티플레이 게임 서버</a:t>
            </a:r>
          </a:p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• 서버 권위(Server-Authoritative) 구조</a:t>
            </a:r>
          </a:p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• 모든 게임 로직은 서버에서 계산·검증</a:t>
            </a:r>
          </a:p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• 클라이언트는 Unity로 결과 표현만 담당</a:t>
            </a:r>
          </a:p>
          <a:p>
            <a:pPr algn="l"/>
            <a:r>
              <a:rPr sz="1200" b="0">
                <a:solidFill>
                  <a:srgbClr val="1E2761"/>
                </a:solidFill>
                <a:latin typeface="Calibri"/>
              </a:rPr>
              <a:t>• Protobuf 직렬화 + IOCP 비동기 네트워크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822960"/>
            <a:ext cx="3383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822960"/>
            <a:ext cx="64008" cy="2103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8686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2618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서버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261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  <a:latin typeface="Calibri"/>
              </a:rPr>
              <a:t>C++17 · IOCP · Protobuf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6459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459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  <a:latin typeface="Calibri"/>
              </a:rPr>
              <a:t>A* · WalkableGrid · 상태머신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02996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네트워크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2996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  <a:latin typeface="Calibri"/>
              </a:rPr>
              <a:t>JobQueue · DoAsync 패턴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4140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클라이언트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140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  <a:latin typeface="Calibri"/>
              </a:rPr>
              <a:t>Unity · NavMesh · C#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63240"/>
            <a:ext cx="85953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063240"/>
            <a:ext cx="64008" cy="1783080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전체 구성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1554480" cy="1005840"/>
          </a:xfrm>
          <a:prstGeom prst="rect">
            <a:avLst/>
          </a:prstGeom>
          <a:solidFill>
            <a:srgbClr val="3AA0FF"/>
          </a:solidFill>
          <a:ln w="6350">
            <a:solidFill>
              <a:srgbClr val="B0B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02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Unity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40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클라이언트
(C# / NavMesh)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611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478"/>
                </a:solidFill>
                <a:latin typeface="Calibri"/>
              </a:rPr>
              <a:t>←  Protobuf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474720"/>
            <a:ext cx="1554480" cy="1005840"/>
          </a:xfrm>
          <a:prstGeom prst="rect">
            <a:avLst/>
          </a:prstGeom>
          <a:solidFill>
            <a:srgbClr val="1E2761"/>
          </a:solidFill>
          <a:ln w="6350">
            <a:solidFill>
              <a:srgbClr val="B0B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3502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GW2_ServerCore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3840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IOCP 세션
패킷 수신·송신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611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478"/>
                </a:solidFill>
                <a:latin typeface="Calibri"/>
              </a:rPr>
              <a:t>→  DoAsync  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474720"/>
            <a:ext cx="1554480" cy="1005840"/>
          </a:xfrm>
          <a:prstGeom prst="rect">
            <a:avLst/>
          </a:prstGeom>
          <a:solidFill>
            <a:srgbClr val="00C9A7"/>
          </a:solidFill>
          <a:ln w="6350">
            <a:solidFill>
              <a:srgbClr val="B0B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502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Lobby / Room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840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게임 로직
30Hz 루프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서버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5120640" cy="7498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3210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GW2_ServerCore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95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IOCP · GameSession · 패킷 송수신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545336"/>
            <a:ext cx="365760" cy="164592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5361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478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09928"/>
            <a:ext cx="5120640" cy="74980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647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Lobby (GLobby 싱글톤)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122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NavMesh 로드 · Room 관리 · Stats 로드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478024"/>
            <a:ext cx="365760" cy="164592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46888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478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42616"/>
            <a:ext cx="5120640" cy="749808"/>
          </a:xfrm>
          <a:prstGeom prst="rect">
            <a:avLst/>
          </a:prstGeom>
          <a:solidFill>
            <a:srgbClr val="1D8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97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Room  (JobQueue 상속)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44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게임 루프 · Handler 함수 · Broadcast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410712"/>
            <a:ext cx="365760" cy="164592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340156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478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75304"/>
            <a:ext cx="5120640" cy="7498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301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Object 계층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977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Player · Minion · Turret · Nexus · Baron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777240"/>
            <a:ext cx="32918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77840" y="777240"/>
            <a:ext cx="64008" cy="40233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8412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핵심 설계 원칙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261872"/>
            <a:ext cx="3063240" cy="804672"/>
          </a:xfrm>
          <a:prstGeom prst="rect">
            <a:avLst/>
          </a:prstGeom>
          <a:solidFill>
            <a:srgbClr val="E8EEF9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1261872"/>
            <a:ext cx="54864" cy="804672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129844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스레드 안전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1591055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8"/>
                </a:solidFill>
                <a:latin typeface="Calibri"/>
              </a:rPr>
              <a:t>Room JobQueue로 직렬 실행
모든 Room 로직 단일 스레드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176272"/>
            <a:ext cx="3063240" cy="804672"/>
          </a:xfrm>
          <a:prstGeom prst="rect">
            <a:avLst/>
          </a:prstGeom>
          <a:solidFill>
            <a:srgbClr val="E8EEF9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0" y="2176272"/>
            <a:ext cx="54864" cy="804672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21284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DoAsync 패턴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505456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8"/>
                </a:solidFill>
                <a:latin typeface="Calibri"/>
              </a:rPr>
              <a:t>크로스 스레드 호출 시
반드시 DoAsync 사용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090672"/>
            <a:ext cx="3063240" cy="804672"/>
          </a:xfrm>
          <a:prstGeom prst="rect">
            <a:avLst/>
          </a:prstGeom>
          <a:solidFill>
            <a:srgbClr val="E8EEF9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0" y="3090672"/>
            <a:ext cx="54864" cy="804672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12724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30 Hz 게임 루프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419856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8"/>
                </a:solidFill>
                <a:latin typeface="Calibri"/>
              </a:rPr>
              <a:t>Lobby가 33ms Tick으로
모든 Room UpdateRoom 호출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005072"/>
            <a:ext cx="3063240" cy="804672"/>
          </a:xfrm>
          <a:prstGeom prst="rect">
            <a:avLst/>
          </a:prstGeom>
          <a:solidFill>
            <a:srgbClr val="E8EEF9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0" y="4005072"/>
            <a:ext cx="54864" cy="804672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404164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서버 권위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334256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8"/>
                </a:solidFill>
                <a:latin typeface="Calibri"/>
              </a:rPr>
              <a:t>이동·전투·버프 모두 서버
클라이언트는 표현만 담당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스레드 모델 &amp; JobQueue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77240"/>
            <a:ext cx="27432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822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IOCP Worker Thread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261872"/>
            <a:ext cx="2523744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네트워크 I/O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8013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패킷 수신 → 디스패치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GameSession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62432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비동기 Send/Recv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777240"/>
            <a:ext cx="2743200" cy="274320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822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Lobby Main Thread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261872"/>
            <a:ext cx="2523744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RunRooms() — 30Hz Tick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18013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LobbyUpdate(deltaTime)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room→DoAsync 디스패치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62432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Room 생성·삭제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777240"/>
            <a:ext cx="2743200" cy="2743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822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Room JobQueue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1261872"/>
            <a:ext cx="2523744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3898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직렬 실행 보장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80136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HandleSkill / HandleMove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2128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UpdateRoom(dt)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62432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Broadcast 처리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03320"/>
            <a:ext cx="8686800" cy="36576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3794760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DoAsync 패턴 — 크로스 스레드 안전 호출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60520"/>
            <a:ext cx="8595360" cy="822960"/>
          </a:xfrm>
          <a:prstGeom prst="rect">
            <a:avLst/>
          </a:prstGeom>
          <a:solidFill>
            <a:srgbClr val="1A1A2E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06240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EC8A0"/>
                </a:solidFill>
                <a:latin typeface="Consolas"/>
              </a:rPr>
              <a:t>// ✅ 안전: Minion 스레드에서 Room 함수 호출</a:t>
            </a:r>
          </a:p>
          <a:p>
            <a:pPr algn="l"/>
            <a:r>
              <a:rPr sz="1050" b="1">
                <a:solidFill>
                  <a:srgbClr val="AAD4FF"/>
                </a:solidFill>
                <a:latin typeface="Consolas"/>
              </a:rPr>
              <a:t>room-&gt;DoAsync(&amp;Room::HandleMinionAttack, self, currentTarget);</a:t>
            </a:r>
          </a:p>
          <a:p>
            <a:pPr algn="l"/>
            <a:r>
              <a:rPr sz="1000" b="0">
                <a:solidFill>
                  <a:srgbClr val="FF7A7A"/>
                </a:solidFill>
                <a:latin typeface="Consolas"/>
              </a:rPr>
              <a:t>// ❌ 위험: 직접 호출 — 절대 금지  room-&gt;HandleMinionAttack(self, currentTarget);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이동 시스템 — 서버 권위 + 클라이언트 예측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502920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64008" cy="4069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서버 이동 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108960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930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① C_MOVE 수신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출발·목적지 좌표 전달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5564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92808"/>
            <a:ext cx="3108960" cy="512064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4767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② ValidateMove()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6712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walkable 여부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41401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551176"/>
            <a:ext cx="3108960" cy="512064"/>
          </a:xfrm>
          <a:prstGeom prst="rect">
            <a:avLst/>
          </a:prstGeom>
          <a:solidFill>
            <a:srgbClr val="1D8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0604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③ A* FindPath()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25496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WalkableGrid 경로탐색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7238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09544"/>
            <a:ext cx="3108960" cy="512064"/>
          </a:xfrm>
          <a:prstGeom prst="rect">
            <a:avLst/>
          </a:prstGeom>
          <a:solidFill>
            <a:srgbClr val="1A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6440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④ SmoothPath()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83863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불필요 꺾임 제거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307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867911"/>
            <a:ext cx="3108960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22775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⑤ S_MOVE 브로드캐스트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42231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100ms(10Hz) 주기 위치 동기화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3891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26279"/>
            <a:ext cx="3108960" cy="512064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81143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⑥ S_MOVE_END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00599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경로 완주 시 최종 위치 확정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777240"/>
            <a:ext cx="3383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777240"/>
            <a:ext cx="64008" cy="1920240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8412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클라이언트 예측 (MyPlayer)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123444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C_MOVE 전송과 동시에 NavMesh로 경로 예측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NavMeshAgent.updatePosition = false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transform.position 수동 제어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• S_MOVE_END 수신 시 3m 초과 차이만 보정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2834640"/>
            <a:ext cx="33832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2834640"/>
            <a:ext cx="64008" cy="2011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2898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텔레포트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32461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Mobility 카드 조건 (서버):</a:t>
            </a:r>
          </a:p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  buffType==0 &amp;&amp; damage==0 &amp;&amp; heal==0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→ 즉시 SetPosVector() + S_MOVE_END</a:t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클라이언트: diff &gt; 3.0m → agent.Warp()</a:t>
            </a:r>
          </a:p>
          <a:p>
            <a:pPr algn="l"/>
            <a:r>
              <a:rPr sz="900" b="0">
                <a:solidFill>
                  <a:srgbClr val="5A6478"/>
                </a:solidFill>
                <a:latin typeface="Calibri"/>
              </a:rPr>
              <a:t>NavMesh 위에 올바르게 착지 보장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미니언 AI — 상태머신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920240"/>
            <a:ext cx="1920240" cy="1143000"/>
          </a:xfrm>
          <a:prstGeom prst="rect">
            <a:avLst/>
          </a:prstGeom>
          <a:solidFill>
            <a:srgbClr val="1E2761"/>
          </a:solidFill>
          <a:ln w="63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23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EFF"/>
                </a:solidFill>
                <a:latin typeface="Calibri"/>
              </a:rPr>
              <a:t>주변 적 탐색
레인 잔여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868680"/>
            <a:ext cx="1920240" cy="1143000"/>
          </a:xfrm>
          <a:prstGeom prst="rect">
            <a:avLst/>
          </a:prstGeom>
          <a:solidFill>
            <a:srgbClr val="1A5F9E"/>
          </a:solidFill>
          <a:ln w="63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960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LINE_TRACE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371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EFF"/>
                </a:solidFill>
                <a:latin typeface="Calibri"/>
              </a:rPr>
              <a:t>레인 경로탐색
A*(laneId 필터)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920240"/>
            <a:ext cx="1920240" cy="1143000"/>
          </a:xfrm>
          <a:prstGeom prst="rect">
            <a:avLst/>
          </a:prstGeom>
          <a:solidFill>
            <a:srgbClr val="1D82B0"/>
          </a:solidFill>
          <a:ln w="63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EFF"/>
                </a:solidFill>
                <a:latin typeface="Calibri"/>
              </a:rPr>
              <a:t>타겟 추적
재경로 0.2s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920240"/>
            <a:ext cx="1920240" cy="1143000"/>
          </a:xfrm>
          <a:prstGeom prst="rect">
            <a:avLst/>
          </a:prstGeom>
          <a:solidFill>
            <a:srgbClr val="00C9A7"/>
          </a:solidFill>
          <a:ln w="63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116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23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EFF"/>
                </a:solidFill>
                <a:latin typeface="Calibri"/>
              </a:rPr>
              <a:t>공격 쿨다운
피해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2402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478"/>
                </a:solidFill>
                <a:latin typeface="Calibri"/>
              </a:rPr>
              <a:t>적 없음
+ wp 있음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2344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478"/>
                </a:solidFill>
                <a:latin typeface="Calibri"/>
              </a:rPr>
              <a:t>↑ 적 탐지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5146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478"/>
                </a:solidFill>
                <a:latin typeface="Calibri"/>
              </a:rPr>
              <a:t>leash 이탈 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2402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478"/>
                </a:solidFill>
                <a:latin typeface="Calibri"/>
              </a:rPr>
              <a:t>→ 사거리 진입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7432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478"/>
                </a:solidFill>
                <a:latin typeface="Calibri"/>
              </a:rPr>
              <a:t>← 사거리 이탈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9144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478"/>
                </a:solidFill>
                <a:latin typeface="Calibri"/>
              </a:rPr>
              <a:t>타겟 사망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37560"/>
            <a:ext cx="21031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337560"/>
            <a:ext cx="54864" cy="1508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_pathPending 가드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703320"/>
            <a:ext cx="1920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8"/>
                </a:solidFill>
                <a:latin typeface="Calibri"/>
              </a:rPr>
              <a:t>DoAsync 중복 요청 방지
LINE_TRACE: RAII 자동 해제
CHASE: 수동 ClearPathPending()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3337560"/>
            <a:ext cx="21031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87168" y="3337560"/>
            <a:ext cx="54864" cy="1508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4327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레인 필터 (laneId)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4327" y="3703320"/>
            <a:ext cx="1920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8"/>
                </a:solidFill>
                <a:latin typeface="Calibri"/>
              </a:rPr>
              <a:t>allowedLaneId=0: 전체 허용
allowedLaneId=1: 상단 레인
allowedLaneId=3: 하단 레인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0016" y="3337560"/>
            <a:ext cx="21031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3337560"/>
            <a:ext cx="54864" cy="1508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37176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타겟 우선순위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7176" y="3703320"/>
            <a:ext cx="1920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8"/>
                </a:solidFill>
                <a:latin typeface="Calibri"/>
              </a:rPr>
              <a:t>Turret (3) &gt; Minion (2)
&gt; Player/Nexus (1)
아군 = -1 (제외)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12864" y="3337560"/>
            <a:ext cx="21031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12864" y="3337560"/>
            <a:ext cx="54864" cy="1508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0024" y="33832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leash 거리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0024" y="3703320"/>
            <a:ext cx="1920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478"/>
                </a:solidFill>
                <a:latin typeface="Calibri"/>
              </a:rPr>
              <a:t>detectionRange × 1.5 이탈
→ LINE_TRACE 복귀
1.5초 재탐지 유예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카드/스킬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3749039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64008" cy="4069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카드 분류 (target_type)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47472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25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Self 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6916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  <a:latin typeface="Calibri"/>
              </a:rPr>
              <a:t>즉시 자신에게 적용
버프·회복 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77440"/>
            <a:ext cx="3474720" cy="10058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468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ClickPoint 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3464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  <a:latin typeface="Calibri"/>
              </a:rPr>
              <a:t>클릭 지점으로 이동
텔레포트·AOE 카드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20440"/>
            <a:ext cx="3474720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611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ClickTarget (2)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977639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FF"/>
                </a:solidFill>
                <a:latin typeface="Calibri"/>
              </a:rPr>
              <a:t>좌클릭 적 대상
단일 공격·스턴 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777240"/>
            <a:ext cx="46634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777240"/>
            <a:ext cx="64008" cy="4069080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8412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HandleSkill() 처리 흐름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234440"/>
            <a:ext cx="443484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307592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C_SKILL 수신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65506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478"/>
                </a:solidFill>
                <a:latin typeface="Calibri"/>
              </a:rPr>
              <a:t>target_id == 0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947672"/>
            <a:ext cx="4434840" cy="38404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020824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카드 소유·사용 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368296"/>
            <a:ext cx="4434840" cy="38404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441448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Heal 처리 → S_HP_CHANGE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788920"/>
            <a:ext cx="4434840" cy="38404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862072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버프 처리 → S_BUFF_APPLIED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209544"/>
            <a:ext cx="4434840" cy="384048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282696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S_SKILL 브로드캐스트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630168"/>
            <a:ext cx="4434840" cy="38404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70332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Mobility? → 즉시 이동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050791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478"/>
                </a:solidFill>
                <a:latin typeface="Calibri"/>
              </a:rPr>
              <a:t>─────── or ───────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343400"/>
            <a:ext cx="4434840" cy="384048"/>
          </a:xfrm>
          <a:prstGeom prst="rect">
            <a:avLst/>
          </a:prstGeom>
          <a:solidFill>
            <a:srgbClr val="8B5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416552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타겟 검증 (팀·사망·거리)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4764024"/>
            <a:ext cx="4434840" cy="384048"/>
          </a:xfrm>
          <a:prstGeom prst="rect">
            <a:avLst/>
          </a:prstGeom>
          <a:solidFill>
            <a:srgbClr val="B0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837176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데미지 계산 + 방어 감소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5184648"/>
            <a:ext cx="443484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25780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S_HP_CHANGE + S_DIE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버프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2057400" cy="2148840"/>
          </a:xfrm>
          <a:prstGeom prst="rect">
            <a:avLst/>
          </a:prstGeom>
          <a:solidFill>
            <a:srgbClr val="1E2761"/>
          </a:solidFill>
          <a:ln w="63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BuffAttack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52728"/>
            <a:ext cx="19202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EFF"/>
                </a:solidFill>
                <a:latin typeface="Calibri"/>
              </a:rPr>
              <a:t>서버: _attackMult = value
(예: 1.5 = 150%)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9BBDD"/>
                </a:solidFill>
                <a:latin typeface="Calibri"/>
              </a:rPr>
              <a:t>Player.cpp:71
_attackBuffTimer 타이머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777240"/>
            <a:ext cx="2057400" cy="2148840"/>
          </a:xfrm>
          <a:prstGeom prst="rect">
            <a:avLst/>
          </a:prstGeom>
          <a:solidFill>
            <a:srgbClr val="1A5F9E"/>
          </a:solidFill>
          <a:ln w="63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822960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BuffDefense (2)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3744" y="1252728"/>
            <a:ext cx="19202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32588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EFF"/>
                </a:solidFill>
                <a:latin typeface="Calibri"/>
              </a:rPr>
              <a:t>서버: _defenseReduct = value
(예: 0.3 = 30% 피해 감소)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029968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9BBDD"/>
                </a:solidFill>
                <a:latin typeface="Calibri"/>
              </a:rPr>
              <a:t>Room.cpp:488
damage × (1 - _defenseReduct)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777240"/>
            <a:ext cx="2057400" cy="2148840"/>
          </a:xfrm>
          <a:prstGeom prst="rect">
            <a:avLst/>
          </a:prstGeom>
          <a:solidFill>
            <a:srgbClr val="1D82B0"/>
          </a:solidFill>
          <a:ln w="63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822960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BuffSpeed (3)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016" y="1252728"/>
            <a:ext cx="19202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3" y="132588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EFF"/>
                </a:solidFill>
                <a:latin typeface="Calibri"/>
              </a:rPr>
              <a:t>서버: _speedMult = value
(예: 2.0 = 이동속도 2배)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3" y="2029968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9BBDD"/>
                </a:solidFill>
                <a:latin typeface="Calibri"/>
              </a:rPr>
              <a:t>Player.cpp:119
remaindist × _speedMult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03136" y="777240"/>
            <a:ext cx="2057400" cy="2148840"/>
          </a:xfrm>
          <a:prstGeom prst="rect">
            <a:avLst/>
          </a:prstGeom>
          <a:solidFill>
            <a:srgbClr val="00C9A7"/>
          </a:solidFill>
          <a:ln w="63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5" y="822960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BuffAttackSpeed (4)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76288" y="1252728"/>
            <a:ext cx="192024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4575" y="132588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EFF"/>
                </a:solidFill>
                <a:latin typeface="Calibri"/>
              </a:rPr>
              <a:t>서버: _attackSpeedMult = value
(예: 0.5 = 쿨타임 절반)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5" y="2029968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9BBDD"/>
                </a:solidFill>
                <a:latin typeface="Calibri"/>
              </a:rPr>
              <a:t>Room.cpp:380
interval / _attackSpeedMult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63240"/>
            <a:ext cx="85953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063240"/>
            <a:ext cx="64008" cy="17830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272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서버 → 클라이언트 버프 흐름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56432"/>
            <a:ext cx="1417320" cy="1115568"/>
          </a:xfrm>
          <a:prstGeom prst="rect">
            <a:avLst/>
          </a:prstGeom>
          <a:solidFill>
            <a:srgbClr val="E8EEF9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566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761"/>
                </a:solidFill>
                <a:latin typeface="Calibri"/>
              </a:rPr>
              <a:t>카드 사용
(HandleSkill)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456432"/>
            <a:ext cx="1417320" cy="1115568"/>
          </a:xfrm>
          <a:prstGeom prst="rect">
            <a:avLst/>
          </a:prstGeom>
          <a:solidFill>
            <a:srgbClr val="E8EEF9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3566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761"/>
                </a:solidFill>
                <a:latin typeface="Calibri"/>
              </a:rPr>
              <a:t>Player 버프
타이머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456432"/>
            <a:ext cx="1417320" cy="1115568"/>
          </a:xfrm>
          <a:prstGeom prst="rect">
            <a:avLst/>
          </a:prstGeom>
          <a:solidFill>
            <a:srgbClr val="E8EEF9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2" y="3566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761"/>
                </a:solidFill>
                <a:latin typeface="Calibri"/>
              </a:rPr>
              <a:t>S_BUFF_APPLIED
(대상에게만)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456432"/>
            <a:ext cx="1417320" cy="1115568"/>
          </a:xfrm>
          <a:prstGeom prst="rect">
            <a:avLst/>
          </a:prstGeom>
          <a:solidFill>
            <a:srgbClr val="E8EEF9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566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761"/>
                </a:solidFill>
                <a:latin typeface="Calibri"/>
              </a:rPr>
              <a:t>BaseController
.ApplyBuff()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478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3456432"/>
            <a:ext cx="1417320" cy="1115568"/>
          </a:xfrm>
          <a:prstGeom prst="rect">
            <a:avLst/>
          </a:prstGeom>
          <a:solidFill>
            <a:srgbClr val="E8EEF9"/>
          </a:solidFill>
          <a:ln w="6350">
            <a:solidFill>
              <a:srgbClr val="C5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35661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761"/>
                </a:solidFill>
                <a:latin typeface="Calibri"/>
              </a:rPr>
              <a:t>UI_StatusBox
표시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478"/>
                </a:solidFill>
                <a:latin typeface="Calibri"/>
              </a:rPr>
              <a:t>※ BuffDefense value: 0.3 = 30% 감소 비율.  UI 표시 시 ×100 변환 필요  (_shield = value × 100f)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게임 루프 &amp; 세션 생명주기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34747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64008" cy="4069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세션 생명주기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10896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184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3108960" cy="34747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11095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로비 입장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59736"/>
            <a:ext cx="3108960" cy="347472"/>
          </a:xfrm>
          <a:prstGeom prst="rect">
            <a:avLst/>
          </a:prstGeom>
          <a:solidFill>
            <a:srgbClr val="1D8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2374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캐릭터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4378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72384"/>
            <a:ext cx="3108960" cy="347472"/>
          </a:xfrm>
          <a:prstGeom prst="rect">
            <a:avLst/>
          </a:prstGeom>
          <a:solidFill>
            <a:srgbClr val="1A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36391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게임 룸 매칭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564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85031"/>
            <a:ext cx="3108960" cy="34747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게임 시작 (포탑·넥서스 스폰)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69079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79"/>
            <a:ext cx="3108960" cy="347472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6168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게임 루프 [30Hz]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8172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10327"/>
            <a:ext cx="310896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7433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사망 / 리스폰 (5초)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94375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478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22975"/>
            <a:ext cx="3108960" cy="347472"/>
          </a:xfrm>
          <a:prstGeom prst="rect">
            <a:avLst/>
          </a:prstGeom>
          <a:solidFill>
            <a:srgbClr val="AA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86983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넥서스 파괴 → 게임 종료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777240"/>
            <a:ext cx="4937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1920" y="777240"/>
            <a:ext cx="64008" cy="2103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841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UpdateRoom(deltaTime) — 30Hz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1234440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① 각 Object::UpdateController(dt)</a:t>
            </a:r>
          </a:p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   Player: 경로이동 + 버프 타이머 감소</a:t>
            </a:r>
          </a:p>
          <a:p>
            <a:pPr algn="l"/>
            <a:r>
              <a:rPr sz="1000" b="0">
                <a:solidFill>
                  <a:srgbClr val="5A6478"/>
                </a:solidFill>
                <a:latin typeface="Calibri"/>
              </a:rPr>
              <a:t>   Minion: 상태머신 (IDLE→ATTACK)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② S_MOVE 브로드캐스트 (100ms 주기)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③ 미니언 웨이브 스폰 (30초 간격)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④ 리스폰 타이머 감소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⑤ 골드 자동 지급 (1초, +20 Gold)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3017520"/>
            <a:ext cx="4937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31920" y="3017520"/>
            <a:ext cx="64008" cy="1828800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0520" y="3081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타이밍 요약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3493008"/>
            <a:ext cx="4846320" cy="27432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353872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761"/>
                </a:solidFill>
                <a:latin typeface="Calibri"/>
              </a:rPr>
              <a:t>게임 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538727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E2761"/>
                </a:solidFill>
                <a:latin typeface="Calibri"/>
              </a:rPr>
              <a:t>33ms  (30Hz)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7639" y="3767328"/>
            <a:ext cx="4846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38130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761"/>
                </a:solidFill>
                <a:latin typeface="Calibri"/>
              </a:rPr>
              <a:t>S_MOVE 브로드캐스트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81304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E2761"/>
                </a:solidFill>
                <a:latin typeface="Calibri"/>
              </a:rPr>
              <a:t>100ms (10Hz)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7639" y="4041648"/>
            <a:ext cx="4846320" cy="27432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0" y="408736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761"/>
                </a:solidFill>
                <a:latin typeface="Calibri"/>
              </a:rPr>
              <a:t>미니언 웨이브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08736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E2761"/>
                </a:solidFill>
                <a:latin typeface="Calibri"/>
              </a:rPr>
              <a:t>30초 간격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77639" y="4315968"/>
            <a:ext cx="4846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43616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761"/>
                </a:solidFill>
                <a:latin typeface="Calibri"/>
              </a:rPr>
              <a:t>골드 자동 지급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36168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E2761"/>
                </a:solidFill>
                <a:latin typeface="Calibri"/>
              </a:rPr>
              <a:t>1초 / +20 Gold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7639" y="4590288"/>
            <a:ext cx="4846320" cy="274320"/>
          </a:xfrm>
          <a:prstGeom prst="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463600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761"/>
                </a:solidFill>
                <a:latin typeface="Calibri"/>
              </a:rPr>
              <a:t>플레이어 리스폰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636007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E2761"/>
                </a:solidFill>
                <a:latin typeface="Calibri"/>
              </a:rPr>
              <a:t>사망 후 5초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77639" y="4864607"/>
            <a:ext cx="4846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0" y="491032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761"/>
                </a:solidFill>
                <a:latin typeface="Calibri"/>
              </a:rPr>
              <a:t>미니언 타겟 탐색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4910327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E2761"/>
                </a:solidFill>
                <a:latin typeface="Calibri"/>
              </a:rPr>
              <a:t>0.1초 간격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구현을 통해 배운 것들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6400800" cy="36576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160520" cy="1600200"/>
          </a:xfrm>
          <a:prstGeom prst="rect">
            <a:avLst/>
          </a:prstGeom>
          <a:solidFill>
            <a:srgbClr val="2A377A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Calibri"/>
              </a:rPr>
              <a:t>서버 권위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모든 게임 로직을 서버에서 처리하는 구조 설계.
클라이언트 예측과 서버 보정을 동시에 구현.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371600"/>
            <a:ext cx="4160520" cy="1600200"/>
          </a:xfrm>
          <a:prstGeom prst="rect">
            <a:avLst/>
          </a:prstGeom>
          <a:solidFill>
            <a:srgbClr val="2A377A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371600"/>
            <a:ext cx="64008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46304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Calibri"/>
              </a:rPr>
              <a:t>JobQueue 기반 스레드 안전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84708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DoAsync 패턴으로 크로스 스레드 호출을 직렬화.
Race condition 없이 멀티스레드 환경 운용.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4160520" cy="1600200"/>
          </a:xfrm>
          <a:prstGeom prst="rect">
            <a:avLst/>
          </a:prstGeom>
          <a:solidFill>
            <a:srgbClr val="2A377A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64008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Calibri"/>
              </a:rPr>
              <a:t>A* 경로탐색 &amp; 미니언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8444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WalkableGrid + laneId 필터로 레인 기반 탐색 구현.
상태머신으로 IDLE→CHASE→ATTACK 전환 관리.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3108960"/>
            <a:ext cx="4160520" cy="1600200"/>
          </a:xfrm>
          <a:prstGeom prst="rect">
            <a:avLst/>
          </a:prstGeom>
          <a:solidFill>
            <a:srgbClr val="2A377A"/>
          </a:solidFill>
          <a:ln w="10160">
            <a:solidFill>
              <a:srgbClr val="3A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60" y="3108960"/>
            <a:ext cx="64008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200400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Calibri"/>
              </a:rPr>
              <a:t>Protobuf 기반 패킷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58444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클라이언트-서버 간 타입 안전한 메시지 직렬화.
패킷 방향(C_/S_) 규칙으로 흐름 명확화.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5AA"/>
                </a:solidFill>
                <a:latin typeface="Calibri"/>
              </a:rPr>
              <a:t>D:\Dev\unity\GW2  |  C++ Server + Unity Client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